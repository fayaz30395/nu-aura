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tone as practical and current. This is not an AI overview deck; it is a field guide for actual team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speed argument. The important shift is not replacement; it is throughput and iteration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keep this broad because the audience is mixed. The common pattern is converting context into structured output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daily pattern is stage-based. I switch tools based on the type of work, not loyalty to one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clean way to compare tools is by stage. Wrong tool selection creates extra prompt effort and cleanup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workflow slide I actually use. The value comes from chaining tools intentionally rather than expecting one tool to do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reusable workflow in the deck. It improves both speed and output quality because it forces clarity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my default prompt skeleton. It scales across engineering, product, architecture, and documentation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of the most common early mistakes is under-specifying the task and then blaming the tool for being generic.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Developers usually see the biggest gains from generation plus explanation, not from blind code generation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workflow regularly saves meaningful implementation time, especially on repeatable service and controller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 use is strongest when it is used to make assumptions explicit and alternatives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explicitly ask for bottlenecks and alternatives. That creates a better design discussion than asking for a single perfect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PM and business teams, AI is strongest when the input is messy and the output needs to be structured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cleanest adoption paths because the artifacts are immediately useful to the wider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demo realistic. The value comes from showing prompt, output, critique, and refinement in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usually lands with the full room because everyone understands the pain of converting notes into something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close by keeping the message grounded: practical, useful, and review-driven. That is how teams get durable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783080" cy="779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836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Aptos"/>
              </a:rPr>
              <a:t>LIVE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AI for Modern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4708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94A3B8"/>
                </a:solidFill>
                <a:latin typeface="Aptos"/>
              </a:rPr>
              <a:t>Real-world usage. Daily workflows. Immediate adoption.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D3EE"/>
                </a:solidFill>
                <a:latin typeface="Aptos Display"/>
              </a:rPr>
              <a:t>How we actually use AI 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640080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Practical workflows for developers, architects, tech leads, and business teams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Focused on speed, quality, and repeatable usage patterns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Built around tools, prompts, demos, and role-specific scenarios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143000"/>
            <a:ext cx="3566160" cy="4389120"/>
          </a:xfrm>
          <a:prstGeom prst="roundRect">
            <a:avLst/>
          </a:prstGeom>
          <a:solidFill>
            <a:srgbClr val="192A4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0020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  <a:latin typeface="Aptos Display"/>
              </a:rPr>
              <a:t>30-40%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Typical savings on repeatable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79191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  <a:latin typeface="Aptos Display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07238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Tools used intentionally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758183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5F7FA"/>
                </a:solidFill>
                <a:latin typeface="Aptos Display"/>
              </a:rPr>
              <a:t>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151376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ptos"/>
              </a:rPr>
              <a:t>Actionable right after the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The Reality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863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  <a:latin typeface="Aptos Display"/>
              </a:rPr>
              <a:t>Teams using AI well are already shipping faster.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713232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AI is now embedded in coding, planning, writing, and analysis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The gap is not hype versus no hype; it is workflow maturity versus lag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High performers use AI to compress cycle time without lowering standards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2834640" cy="2194560"/>
          </a:xfrm>
          <a:prstGeom prst="roundRect">
            <a:avLst/>
          </a:prstGeom>
          <a:solidFill>
            <a:srgbClr val="192A47"/>
          </a:solidFill>
          <a:ln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24028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Aptos Display"/>
              </a:rPr>
              <a:t>Faster cycles.
Better first drafts.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Where AI Fits in Daily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212080" cy="3383280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12080" cy="3383280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D3EE"/>
                </a:solidFill>
                <a:latin typeface="Aptos Display"/>
              </a:rPr>
              <a:t>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29768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Coding and debugging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Documentation and summaries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Email, updates, and stakeholder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D3EE"/>
                </a:solidFill>
                <a:latin typeface="Aptos Display"/>
              </a:rPr>
              <a:t>Decision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29768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Tradeoff analysis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Planning and decomposition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Requirement 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Tools I Use in Real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5166360" cy="1508760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1343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BBF24"/>
                </a:solidFill>
                <a:latin typeface="Aptos"/>
              </a:rPr>
              <a:t>STARTING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  <a:latin typeface="Aptos Display"/>
              </a:rPr>
              <a:t>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551176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Aptos"/>
              </a:rPr>
              <a:t>Brainstorming, drafting, first-pass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57400"/>
            <a:ext cx="5166360" cy="1508760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1343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BBF24"/>
                </a:solidFill>
                <a:latin typeface="Aptos"/>
              </a:rPr>
              <a:t>DEEP THINKING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  <a:latin typeface="Aptos Display"/>
              </a:rPr>
              <a:t>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51176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Aptos"/>
              </a:rPr>
              <a:t>Architecture, edge cases, long-context synthesis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166360" cy="1508760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8795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BBF24"/>
                </a:solidFill>
                <a:latin typeface="Aptos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  <a:latin typeface="Aptos Display"/>
              </a:rPr>
              <a:t>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425696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Aptos"/>
              </a:rPr>
              <a:t>Repo-aware coding and task completion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931920"/>
            <a:ext cx="5166360" cy="1508760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87952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BBF24"/>
                </a:solidFill>
                <a:latin typeface="Aptos"/>
              </a:rPr>
              <a:t>IN-IDE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34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  <a:latin typeface="Aptos Display"/>
              </a:rPr>
              <a:t>Copilot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425696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Aptos"/>
              </a:rPr>
              <a:t>Completions, tests, repetitive edits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High-Level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Aptos"/>
              </a:rP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Aptos"/>
              </a:rPr>
              <a:t>Positioning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Aptos"/>
              </a:rPr>
              <a:t>Use it 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10698480" cy="621792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 Display"/>
              </a:rPr>
              <a:t>ChatGPT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86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2E8F0"/>
                </a:solidFill>
                <a:latin typeface="Aptos"/>
              </a:rPr>
              <a:t>Best for starting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2E8F0"/>
                </a:solidFill>
                <a:latin typeface="Aptos"/>
              </a:rPr>
              <a:t>Fast framing, broad help, quick drafts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71800"/>
            <a:ext cx="10698480" cy="621792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 Display"/>
              </a:rPr>
              <a:t>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108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2E8F0"/>
                </a:solidFill>
                <a:latin typeface="Aptos"/>
              </a:rPr>
              <a:t>Best for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2E8F0"/>
                </a:solidFill>
                <a:latin typeface="Aptos"/>
              </a:rPr>
              <a:t>Reasoning, architecture, long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10698480" cy="621792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 Display"/>
              </a:rP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2E8F0"/>
                </a:solidFill>
                <a:latin typeface="Aptos"/>
              </a:rPr>
              <a:t>Best for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2E8F0"/>
                </a:solidFill>
                <a:latin typeface="Aptos"/>
              </a:rPr>
              <a:t>Tool use, code changes, end-to-end tasks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17720"/>
            <a:ext cx="10698480" cy="621792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Aptos Display"/>
              </a:rPr>
              <a:t>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754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2E8F0"/>
                </a:solidFill>
                <a:latin typeface="Aptos"/>
              </a:rPr>
              <a:t>Best for velocity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75488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2E8F0"/>
                </a:solidFill>
                <a:latin typeface="Aptos"/>
              </a:rPr>
              <a:t>Inline coding acceleration inside the 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Use the Right Tool at the Right 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2514600" cy="1965960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7860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979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Aptos"/>
              </a:rPr>
              <a:t>Frame the problem</a:t>
            </a:r>
          </a:p>
        </p:txBody>
      </p:sp>
      <p:sp>
        <p:nvSpPr>
          <p:cNvPr id="12" name="Chevron 11"/>
          <p:cNvSpPr/>
          <p:nvPr/>
        </p:nvSpPr>
        <p:spPr>
          <a:xfrm>
            <a:off x="3401568" y="2880360"/>
            <a:ext cx="384048" cy="548640"/>
          </a:xfrm>
          <a:prstGeom prst="chevron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331720"/>
            <a:ext cx="2514600" cy="1965960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57860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B8A6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4290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Aptos"/>
              </a:rPr>
              <a:t>Refine the approach</a:t>
            </a:r>
          </a:p>
        </p:txBody>
      </p:sp>
      <p:sp>
        <p:nvSpPr>
          <p:cNvPr id="17" name="Chevron 16"/>
          <p:cNvSpPr/>
          <p:nvPr/>
        </p:nvSpPr>
        <p:spPr>
          <a:xfrm>
            <a:off x="6144768" y="2880360"/>
            <a:ext cx="384048" cy="548640"/>
          </a:xfrm>
          <a:prstGeom prst="chevron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331720"/>
            <a:ext cx="2514600" cy="1965960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57860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2D3EE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290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Aptos"/>
              </a:rPr>
              <a:t>Execute the work</a:t>
            </a:r>
          </a:p>
        </p:txBody>
      </p:sp>
      <p:sp>
        <p:nvSpPr>
          <p:cNvPr id="22" name="Chevron 21"/>
          <p:cNvSpPr/>
          <p:nvPr/>
        </p:nvSpPr>
        <p:spPr>
          <a:xfrm>
            <a:off x="8887968" y="2880360"/>
            <a:ext cx="384048" cy="548640"/>
          </a:xfrm>
          <a:prstGeom prst="chevron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2331720"/>
            <a:ext cx="2514600" cy="1965960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57860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Aptos Display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Copilot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4290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Aptos"/>
              </a:rPr>
              <a:t>Accelerate local 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How to Use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94A3B8"/>
                </a:solidFill>
                <a:latin typeface="Aptos"/>
              </a:rPr>
              <a:t>Universal workflow for any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D3EE"/>
                </a:solidFill>
                <a:latin typeface="Aptos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214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2E8F0"/>
                </a:solidFill>
                <a:latin typeface="Aptos"/>
              </a:rPr>
              <a:t>Define the goal clearly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2194560"/>
            <a:ext cx="2468880" cy="73152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D3EE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072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2E8F0"/>
                </a:solidFill>
                <a:latin typeface="Aptos"/>
              </a:rPr>
              <a:t>Provide real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2880360"/>
            <a:ext cx="2148840" cy="73152"/>
          </a:xfrm>
          <a:prstGeom prst="rect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D3EE"/>
                </a:solidFill>
                <a:latin typeface="Aptos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493008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2E8F0"/>
                </a:solidFill>
                <a:latin typeface="Aptos"/>
              </a:rPr>
              <a:t>Ask for a structured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3566160"/>
            <a:ext cx="18288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D3EE"/>
                </a:solidFill>
                <a:latin typeface="Aptos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178807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2E8F0"/>
                </a:solidFill>
                <a:latin typeface="Aptos"/>
              </a:rPr>
              <a:t>Review critically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4251959"/>
            <a:ext cx="15087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2D3EE"/>
                </a:solidFill>
                <a:latin typeface="Aptos Display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64607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2E8F0"/>
                </a:solidFill>
                <a:latin typeface="Aptos"/>
              </a:rPr>
              <a:t>Iterate in smaller loops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4937759"/>
            <a:ext cx="118872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Prompting Framework I Use Daily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10424160" cy="3337560"/>
          </a:xfrm>
          <a:prstGeom prst="roundRect">
            <a:avLst/>
          </a:prstGeom>
          <a:solidFill>
            <a:srgbClr val="192A4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Aptos Display"/>
              </a:rPr>
              <a:t>Act 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7132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E2E8F0"/>
                </a:solidFill>
                <a:latin typeface="Aptos"/>
              </a:rPr>
              <a:t>the role you want the model to simulate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Aptos Display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71216"/>
            <a:ext cx="7132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E2E8F0"/>
                </a:solidFill>
                <a:latin typeface="Aptos"/>
              </a:rPr>
              <a:t>business situation, stack, constraints, current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564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Aptos Display"/>
              </a:rP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56432"/>
            <a:ext cx="7132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E2E8F0"/>
                </a:solidFill>
                <a:latin typeface="Aptos"/>
              </a:rPr>
              <a:t>the exact job and expected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4164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Aptos Display"/>
              </a:rPr>
              <a:t>Output 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041648"/>
            <a:ext cx="7132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E2E8F0"/>
                </a:solidFill>
                <a:latin typeface="Aptos"/>
              </a:rPr>
              <a:t>table, bullets, code, slide, test plan, ADR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26864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Aptos Display"/>
              </a:rPr>
              <a:t>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626864"/>
            <a:ext cx="7132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E2E8F0"/>
                </a:solidFill>
                <a:latin typeface="Aptos"/>
              </a:rPr>
              <a:t>style, security, depth, what not to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Prompt Quality Changes the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48840"/>
            <a:ext cx="4983480" cy="2560320"/>
          </a:xfrm>
          <a:prstGeom prst="roundRect">
            <a:avLst/>
          </a:prstGeom>
          <a:solidFill>
            <a:srgbClr val="132036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2148840"/>
            <a:ext cx="4983480" cy="2560320"/>
          </a:xfrm>
          <a:prstGeom prst="roundRect">
            <a:avLst/>
          </a:prstGeom>
          <a:solidFill>
            <a:srgbClr val="192A4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B7185"/>
                </a:solidFill>
                <a:latin typeface="Aptos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2E8F0"/>
                </a:solidFill>
                <a:latin typeface="Aptos"/>
              </a:rPr>
              <a:t>Write an API for leave requests.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Aptos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3464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E2E8F0"/>
                </a:solidFill>
                <a:latin typeface="Aptos"/>
              </a:rPr>
              <a:t>Act as a Spring Boot engineer. Build a leave request API with validation, RBAC, paging, error handling, and tests. Return controller, DTOs, service flow, and test 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2D3EE"/>
                </a:solidFill>
                <a:latin typeface="Aptos Display"/>
              </a:rPr>
              <a:t>Better prompts reduce cleanup.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Developers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D3EE"/>
                </a:solidFill>
                <a:latin typeface="Aptos Display"/>
              </a:rPr>
              <a:t>Where AI helps most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630936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Writing APIs, services, validation, and tests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Explaining legacy code and unfamiliar modules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Debugging stack traces and isolating likely faults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Refactoring repetitive code safely with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920240"/>
            <a:ext cx="3474720" cy="2926080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4231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  <a:latin typeface="Aptos Display"/>
              </a:rPr>
              <a:t>Practical usage
beats generic prompting.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Developer Workflow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512064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Prompt with stack, contract, validation rules, and response model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Generate the API skeleton, then refine for auth and edge cases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Ask for tests and then ask what is still missing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4572000" cy="3108960"/>
          </a:xfrm>
          <a:prstGeom prst="roundRect">
            <a:avLst/>
          </a:prstGeom>
          <a:solidFill>
            <a:srgbClr val="192A4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2240280"/>
            <a:ext cx="109728" cy="10972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11696" y="224028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31152" y="224028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3931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5F7FA"/>
                </a:solidFill>
                <a:latin typeface="Courier New"/>
              </a:rPr>
              <a:t>@PostMapping("/leave-requests")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5F7FA"/>
                </a:solidFill>
                <a:latin typeface="Courier New"/>
              </a:rPr>
              <a:t>public LeaveResponse create(@Valid @RequestBody CreateLeaveRequest request) {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5F7FA"/>
                </a:solidFill>
                <a:latin typeface="Courier New"/>
              </a:rPr>
              <a:t>    return leaveService.create(request);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5F7FA"/>
                </a:solidFill>
                <a:latin typeface="Courier New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Architects and Tech Leads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D3EE"/>
                </a:solidFill>
                <a:latin typeface="Aptos Display"/>
              </a:rPr>
              <a:t>Where AI helps most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630936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Exploring options before committing to one design path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Comparing tradeoffs across scale, cost, complexity, and risk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Drafting HLDs, ADRs, sequences, and implementation slices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Stress-testing assumptions by asking AI to argue against the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920240"/>
            <a:ext cx="3474720" cy="2926080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4231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  <a:latin typeface="Aptos Display"/>
              </a:rPr>
              <a:t>Practical usage
beats generic prompting.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Architect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708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94A3B8"/>
                </a:solidFill>
                <a:latin typeface="Aptos"/>
              </a:rPr>
              <a:t>Prompt AI for a scalable system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86000"/>
            <a:ext cx="4617720" cy="1143000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542032"/>
            <a:ext cx="4069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5F7FA"/>
                </a:solidFill>
                <a:latin typeface="Aptos Display"/>
              </a:rPr>
              <a:t>What are the core components?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286000"/>
            <a:ext cx="4617720" cy="1143000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542032"/>
            <a:ext cx="4069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5F7FA"/>
                </a:solidFill>
                <a:latin typeface="Aptos Display"/>
              </a:rPr>
              <a:t>How does data flow through the system?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86200"/>
            <a:ext cx="4617720" cy="1143000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142232"/>
            <a:ext cx="4069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5F7FA"/>
                </a:solidFill>
                <a:latin typeface="Aptos Display"/>
              </a:rPr>
              <a:t>Where are the bottlenecks at 10x scale?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86200"/>
            <a:ext cx="4617720" cy="1143000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142232"/>
            <a:ext cx="4069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5F7FA"/>
                </a:solidFill>
                <a:latin typeface="Aptos Display"/>
              </a:rPr>
              <a:t>What alternatives should we evaluate?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Product and Business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D3EE"/>
                </a:solidFill>
                <a:latin typeface="Aptos Display"/>
              </a:rPr>
              <a:t>Where AI helps most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630936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Turning rough ideas into PRDs and user stories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Refining requirements before they hit engineering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Summarizing meetings, calls, and stakeholder feedback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E2E8F0"/>
                </a:solidFill>
                <a:latin typeface="Aptos"/>
              </a:rPr>
              <a:t>Drafting updates, reports, and executive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920240"/>
            <a:ext cx="3474720" cy="2926080"/>
          </a:xfrm>
          <a:prstGeom prst="roundRect">
            <a:avLst/>
          </a:prstGeom>
          <a:solidFill>
            <a:srgbClr val="192A4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42316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  <a:latin typeface="Aptos Display"/>
              </a:rPr>
              <a:t>Practical usage
beats generic prompting.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PM and Business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10287000" cy="3383280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278892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27432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2E8F0"/>
                </a:solidFill>
                <a:latin typeface="Aptos"/>
              </a:rPr>
              <a:t>Input a rough idea</a:t>
            </a:r>
          </a:p>
        </p:txBody>
      </p:sp>
      <p:sp>
        <p:nvSpPr>
          <p:cNvPr id="11" name="Chevron 10"/>
          <p:cNvSpPr/>
          <p:nvPr/>
        </p:nvSpPr>
        <p:spPr>
          <a:xfrm>
            <a:off x="2651760" y="2770632"/>
            <a:ext cx="320040" cy="411480"/>
          </a:xfrm>
          <a:prstGeom prst="chevron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36392" y="278892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6744" y="27432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2E8F0"/>
                </a:solidFill>
                <a:latin typeface="Aptos"/>
              </a:rPr>
              <a:t>Generate a PRD</a:t>
            </a:r>
          </a:p>
        </p:txBody>
      </p:sp>
      <p:sp>
        <p:nvSpPr>
          <p:cNvPr id="14" name="Chevron 13"/>
          <p:cNvSpPr/>
          <p:nvPr/>
        </p:nvSpPr>
        <p:spPr>
          <a:xfrm>
            <a:off x="4553712" y="2770632"/>
            <a:ext cx="320040" cy="411480"/>
          </a:xfrm>
          <a:prstGeom prst="chevron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38344" y="278892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68696" y="27432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2E8F0"/>
                </a:solidFill>
                <a:latin typeface="Aptos"/>
              </a:rPr>
              <a:t>Convert to stories and acceptance criteria</a:t>
            </a:r>
          </a:p>
        </p:txBody>
      </p:sp>
      <p:sp>
        <p:nvSpPr>
          <p:cNvPr id="17" name="Chevron 16"/>
          <p:cNvSpPr/>
          <p:nvPr/>
        </p:nvSpPr>
        <p:spPr>
          <a:xfrm>
            <a:off x="6455664" y="2770632"/>
            <a:ext cx="320040" cy="411480"/>
          </a:xfrm>
          <a:prstGeom prst="chevron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40296" y="278892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27432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2E8F0"/>
                </a:solidFill>
                <a:latin typeface="Aptos"/>
              </a:rPr>
              <a:t>Refine with the team</a:t>
            </a:r>
          </a:p>
        </p:txBody>
      </p:sp>
      <p:sp>
        <p:nvSpPr>
          <p:cNvPr id="20" name="Chevron 19"/>
          <p:cNvSpPr/>
          <p:nvPr/>
        </p:nvSpPr>
        <p:spPr>
          <a:xfrm>
            <a:off x="8357616" y="2770632"/>
            <a:ext cx="320040" cy="411480"/>
          </a:xfrm>
          <a:prstGeom prst="chevron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42248" y="2788920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7432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2E8F0"/>
                </a:solidFill>
                <a:latin typeface="Aptos"/>
              </a:rPr>
              <a:t>Reuse AI for summaries and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836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Aptos"/>
              </a:rPr>
              <a:t>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Live Demo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4708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94A3B8"/>
                </a:solidFill>
                <a:latin typeface="Aptos"/>
              </a:rPr>
              <a:t>Developer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6629400" cy="3611880"/>
          </a:xfrm>
          <a:prstGeom prst="roundRect">
            <a:avLst/>
          </a:prstGeom>
          <a:solidFill>
            <a:srgbClr val="192A4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Build a REST API using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74519"/>
            <a:ext cx="3246120" cy="3566160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92440" y="2103120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93608" y="2103120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94776" y="2103120"/>
            <a:ext cx="100584" cy="1005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530352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Show prompt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Inspect output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Refine for validation and tests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Explain what still needs engineering judgment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514600"/>
            <a:ext cx="2468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22D3EE"/>
                </a:solidFill>
                <a:latin typeface="Aptos Display"/>
              </a:rPr>
              <a:t>Prompt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E2E8F0"/>
                </a:solidFill>
                <a:latin typeface="Aptos Display"/>
              </a:rPr>
              <a:t>Output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2D3EE"/>
                </a:solidFill>
                <a:latin typeface="Aptos Display"/>
              </a:rPr>
              <a:t>Review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E2E8F0"/>
                </a:solidFill>
                <a:latin typeface="Aptos Display"/>
              </a:rPr>
              <a:t>Refine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836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Aptos"/>
              </a:rPr>
              <a:t>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Live Demo 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4708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94A3B8"/>
                </a:solidFill>
                <a:latin typeface="Aptos"/>
              </a:rPr>
              <a:t>Business and PM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6629400" cy="3611880"/>
          </a:xfrm>
          <a:prstGeom prst="roundRect">
            <a:avLst/>
          </a:prstGeom>
          <a:solidFill>
            <a:srgbClr val="192A4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Turn raw notes into a structured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74519"/>
            <a:ext cx="3246120" cy="3566160"/>
          </a:xfrm>
          <a:prstGeom prst="roundRect">
            <a:avLst/>
          </a:prstGeom>
          <a:solidFill>
            <a:srgbClr val="132036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92440" y="2103120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93608" y="2103120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94776" y="2103120"/>
            <a:ext cx="100584" cy="1005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530352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Start with messy notes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Extract decisions, risks, and actions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Refine tone for stakeholders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Show the before-to-after transformation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514600"/>
            <a:ext cx="2468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22D3EE"/>
                </a:solidFill>
                <a:latin typeface="Aptos Display"/>
              </a:rPr>
              <a:t>Prompt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E2E8F0"/>
                </a:solidFill>
                <a:latin typeface="Aptos Display"/>
              </a:rPr>
              <a:t>Output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2D3EE"/>
                </a:solidFill>
                <a:latin typeface="Aptos Display"/>
              </a:rPr>
              <a:t>Review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E2E8F0"/>
                </a:solidFill>
                <a:latin typeface="Aptos Display"/>
              </a:rPr>
              <a:t>Refine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-2011680"/>
            <a:ext cx="5486400" cy="4572000"/>
          </a:xfrm>
          <a:prstGeom prst="ellipse">
            <a:avLst/>
          </a:prstGeom>
          <a:solidFill>
            <a:srgbClr val="297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914400"/>
            <a:ext cx="5303520" cy="4114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105156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U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417320" cy="6192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914400"/>
            <a:ext cx="8778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Aptos Display"/>
              </a:rPr>
              <a:t>Best Practices and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6949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D3EE"/>
                </a:solidFill>
                <a:latin typeface="Aptos Display"/>
              </a:rPr>
              <a:t>AI is a productivity multiplier when paired with judgment.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66751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Treat AI like a junior engineer or analyst, not an authority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Never skip review for code, decisions, data, or external claims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Break large work into steps and reuse prompts that work well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E2E8F0"/>
                </a:solidFill>
                <a:latin typeface="Aptos"/>
              </a:rPr>
              <a:t>Start small, build habits fast, and scale by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011680"/>
            <a:ext cx="3154680" cy="3200400"/>
          </a:xfrm>
          <a:prstGeom prst="roundRect">
            <a:avLst/>
          </a:prstGeom>
          <a:solidFill>
            <a:srgbClr val="192A47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7432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  <a:latin typeface="Aptos Display"/>
              </a:rPr>
              <a:t>Start small.
Scale by role.
Keep standards high.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1539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